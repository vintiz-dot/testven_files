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17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548640"/>
            <a:ext cx="4114800" cy="41148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914400"/>
            <a:ext cx="3200400" cy="32004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840480"/>
            <a:ext cx="640080" cy="640080"/>
          </a:xfrm>
          <a:prstGeom prst="ellipse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4114800"/>
            <a:ext cx="365760" cy="365760"/>
          </a:xfrm>
          <a:prstGeom prst="ellipse">
            <a:avLst/>
          </a:prstGeom>
          <a:solidFill>
            <a:srgbClr val="9DCFDB">
              <a:alpha val="70000"/>
            </a:srgbClr>
          </a:solidFill>
          <a:ln w="12700">
            <a:solidFill>
              <a:srgbClr val="9DCFDB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Development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Reflection on PD in Your Pocket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 smtClean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Victor. Moronu</a:t>
            </a:r>
            <a:r>
              <a:rPr lang="en-US" sz="1200" dirty="0" smtClean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High School Educator (9–12)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TEACH-NOW EdTech Program  |  April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Platform: Wakelet  ·  Focus Group: High School (9–12)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Social Media Professional Development?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02336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"PD in your pocket."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"PD from your couch."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26280" y="105156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 availability of peer-driven, self-directed learning on platforms like Twitter/X, Instagram, LinkedIn, and YouTube.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651760"/>
            <a:ext cx="2697480" cy="2240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65176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88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Communities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global conversations organized around shared topics — #edchat, #NGSS, #PBLchat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651760"/>
            <a:ext cx="2697480" cy="2240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65176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788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Chats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29184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Twitter chats where educators share in structured Q&amp;A sessions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651760"/>
            <a:ext cx="2697480" cy="2240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65176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788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Curation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29184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platforms like Wakelet to organize discoveries into purposeful learning hubs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Exploration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navigated the social media PD landscape this week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Hashtag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6733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#edchat and #edtechchat as entry points — high-volume, high-quality conversations immediately.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to High School Focus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8163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Drilled into #NGSS, #scichat, and #hsscienceteacher for subject- and grade-specific content.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611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"Lurked" in Live Twitter Chats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9593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without posting first — learned the pace, format, and etiquette before contributing.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Vetted Accounts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16733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accounts like @keslerscience, @nsta, @pblworks — prioritizing evidence-backed content.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51460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Webinar Ecosystems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28163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edWeb.net and ASCD's free webinar calendars — free CEU certificates included.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Group: High School (9–12) Science &amp; Cross-Curricular Educators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#1: The Power of Hashtag Communities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#edchat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educational discourse — Tuesdays 12 PM &amp; 7 PM 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#edtechchat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integration focus — Mondays 8 PM 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8600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95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#NGSS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science standards implementation and lesson design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28600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95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#PBLchat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743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 design for HS capstone units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1188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216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#scichat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educator community — lab design, inquiry, NGSS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11880"/>
            <a:ext cx="73152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216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#ObserveMe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4069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observation culture — models professional vulnerability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"Lurking" before posting is a perfectly valid — and encouraged — first step.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#2: Authoritative Accounts Worth Following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Vetted, research-backed voices for high school professional learning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@keslerscience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298448"/>
            <a:ext cx="27432" cy="329184"/>
          </a:xfrm>
          <a:prstGeom prst="rect">
            <a:avLst/>
          </a:prstGeom>
          <a:solidFill>
            <a:srgbClr val="9DCFDB"/>
          </a:solidFill>
          <a:ln w="12700">
            <a:solidFill>
              <a:srgbClr val="9DC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26187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124358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Inquiry-based HS labs, "productive chaos" philosophy, AI in science education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54864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01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@nsta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1938528"/>
            <a:ext cx="27432" cy="329184"/>
          </a:xfrm>
          <a:prstGeom prst="rect">
            <a:avLst/>
          </a:prstGeom>
          <a:solidFill>
            <a:srgbClr val="9DCFDB"/>
          </a:solidFill>
          <a:ln w="12700">
            <a:solidFill>
              <a:srgbClr val="9DCF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9019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88366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NGSS guidance, lab safety protocols, AI epistemology — the authoritative science PD hub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8412480" cy="548640"/>
          </a:xfrm>
          <a:prstGeom prst="rect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42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@pblworks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06040" y="2578608"/>
            <a:ext cx="27432" cy="329184"/>
          </a:xfrm>
          <a:prstGeom prst="rect">
            <a:avLst/>
          </a:prstGeom>
          <a:solidFill>
            <a:srgbClr val="9DCFDB"/>
          </a:solidFill>
          <a:ln w="12700">
            <a:solidFill>
              <a:srgbClr val="9DC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54203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252374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Gold-standard PBL frameworks, capstone design, cross-curricular HS project resources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8412480" cy="54864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821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@principalkafele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06040" y="3218688"/>
            <a:ext cx="27432" cy="329184"/>
          </a:xfrm>
          <a:prstGeom prst="rect">
            <a:avLst/>
          </a:prstGeom>
          <a:solidFill>
            <a:srgbClr val="9DCFDB"/>
          </a:solidFill>
          <a:ln w="12700">
            <a:solidFill>
              <a:srgbClr val="9DCF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318211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316382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identity, instructional coaching, transformational leadership strategies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8412480" cy="548640"/>
          </a:xfrm>
          <a:prstGeom prst="rect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221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@thephysicsgirl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06040" y="3858768"/>
            <a:ext cx="27432" cy="329184"/>
          </a:xfrm>
          <a:prstGeom prst="rect">
            <a:avLst/>
          </a:prstGeom>
          <a:solidFill>
            <a:srgbClr val="9DCFDB"/>
          </a:solidFill>
          <a:ln w="12700">
            <a:solidFill>
              <a:srgbClr val="9DCF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8221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380390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physics made accessible — bridges AP content and student curiosity brilliantly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622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@edWebnet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06040" y="4498848"/>
            <a:ext cx="27432" cy="329184"/>
          </a:xfrm>
          <a:prstGeom prst="rect">
            <a:avLst/>
          </a:prstGeom>
          <a:solidFill>
            <a:srgbClr val="9DCFDB"/>
          </a:solidFill>
          <a:ln w="12700">
            <a:solidFill>
              <a:srgbClr val="9DCF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446227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444398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PD webinars with CEU certificates; spring 2026 calendar is exceptionally strong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accounts with evidence-based content over aesthetically curated feeds.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#3: Wakelet Transforms Curation into Pedagogy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Wakelet Maps to the SAMR Model: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011680" cy="265176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0116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8132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965960"/>
            <a:ext cx="1865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printed link list with a digital Wakelet collection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2011680" cy="2651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371600"/>
            <a:ext cx="20116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48132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87752" y="1965960"/>
            <a:ext cx="1865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PhET simulations, videos, and PDFs into one centralized 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2011680" cy="2651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371600"/>
            <a:ext cx="20116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48132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82312" y="1965960"/>
            <a:ext cx="1865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curate their own research collections with annotations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371600"/>
            <a:ext cx="2011680" cy="2651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371600"/>
            <a:ext cx="20116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48132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76872" y="1965960"/>
            <a:ext cx="18653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classrooms co-curate shared collections with fieldwork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160520"/>
            <a:ext cx="850392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2245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Collection: </a:t>
            </a: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 School Educator's Social Media PD Hub" — organized into 4 sections: </a:t>
            </a:r>
            <a:r>
              <a:rPr lang="en-US" sz="11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Chats &amp; Communities  ·  Educator Accounts  ·  Digital Tools  ·  Webinars &amp; PD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My Teaching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changes I am making as a result of this week's exploration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51960" cy="1645920"/>
          </a:xfrm>
          <a:prstGeom prst="rect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251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 Weekly Chat Commitment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Mondays 8 PM for #edtechchat and Tuesdays 7 PM for #edchat — structured participation rather than passive scrolling.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251960" cy="1645920"/>
          </a:xfrm>
          <a:prstGeom prst="rect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4251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984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 Curated Resource Library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719072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Wakelet collection replaces my scattered bookmark folder. Organized by theme, annotated, and ready to share with my department.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251960" cy="1645920"/>
          </a:xfrm>
          <a:prstGeom prst="rect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4251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272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 Inquiry Lab Refresh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547872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@keslerscience and NSTA resources to redesign one lab unit using phenomena-based instruction and CER frameworks.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251960" cy="1645920"/>
          </a:xfrm>
          <a:prstGeom prst="rect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17520"/>
            <a:ext cx="4251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272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 Sharing with Colleagues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my Wakelet collection and three new hashtags to our HS science department at our next PLC meeting.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9474"/>
          </a:solidFill>
          <a:ln w="12700">
            <a:solidFill>
              <a:srgbClr val="0194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Evaluation: The Real Value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 tells us about the genuine benefits of networked professional learning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36576"/>
          </a:xfrm>
          <a:prstGeom prst="rect">
            <a:avLst/>
          </a:prstGeom>
          <a:solidFill>
            <a:srgbClr val="019474"/>
          </a:solidFill>
          <a:ln w="12700">
            <a:solidFill>
              <a:srgbClr val="0194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502920" cy="502920"/>
          </a:xfrm>
          <a:prstGeom prst="ellipse">
            <a:avLst/>
          </a:prstGeom>
          <a:solidFill>
            <a:srgbClr val="019474"/>
          </a:solidFill>
          <a:ln w="12700">
            <a:solidFill>
              <a:srgbClr val="0194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0759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Eradicates Geographic Isolation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in rural or specialized contexts access expertise beyond their immediate school building — leveling a historically unequal playing field.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502920" cy="502920"/>
          </a:xfrm>
          <a:prstGeom prst="ellipse">
            <a:avLst/>
          </a:prstGeom>
          <a:solidFill>
            <a:srgbClr val="019474"/>
          </a:solidFill>
          <a:ln w="12700">
            <a:solidFill>
              <a:srgbClr val="0194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Fosters Teacherpreneurship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curation and participation builds professional identity, authority in niche areas, and psychological resilience through peer support networks.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502920" cy="502920"/>
          </a:xfrm>
          <a:prstGeom prst="ellipse">
            <a:avLst/>
          </a:prstGeom>
          <a:solidFill>
            <a:srgbClr val="019474"/>
          </a:solidFill>
          <a:ln w="12700">
            <a:solidFill>
              <a:srgbClr val="0194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13639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Democratic PD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474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professional development from a top-down compliance exercise into an active, democratic, community-of-practice model.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14800"/>
            <a:ext cx="502920" cy="502920"/>
          </a:xfrm>
          <a:prstGeom prst="ellipse">
            <a:avLst/>
          </a:prstGeom>
          <a:solidFill>
            <a:srgbClr val="019474"/>
          </a:solidFill>
          <a:ln w="12700">
            <a:solidFill>
              <a:srgbClr val="0194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5079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Continuous Learning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PD from a one-time annual event to a continuous, globally networked learning continuum — aligned with ISTE Educator Standards.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19474"/>
          </a:solidFill>
          <a:ln w="12700">
            <a:solidFill>
              <a:srgbClr val="0194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PD aligns directly with ISTE Educator Standard 1: Learner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 Cannot Ignore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D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balanced, honest critique of social media as a PD tool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58368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1615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Divide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225296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educators have equal access to high-speed internet or modern devices. Mandating social media PD without infrastructure support exacerbates existing inequities in under-resourced schools.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56816"/>
            <a:ext cx="8412480" cy="658368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56816"/>
            <a:ext cx="6400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842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 &amp; Burnout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99339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of content creates cognitive fatigue. Aestheticized classroom feeds on Instagram can trigger negative social comparison and professional burnout if consumed uncritically.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8412480" cy="658368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24912"/>
            <a:ext cx="6400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523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Chambers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76148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curation naturally reinforces existing beliefs. Educators may only encounter content that confirms what they already think, stifling exposure to genuinely diverse approaches.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8412480" cy="658368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93008"/>
            <a:ext cx="6400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20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529584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once-collaborative spaces have become commercialized. Prominent influencers increasingly monetize curriculum content, prioritizing sales over equitable knowledge-sharing.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61104"/>
            <a:ext cx="8412480" cy="658368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261104"/>
            <a:ext cx="64008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8853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for Hands-On Science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2976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social media fundamentally cannot replicate the tactile realities of managing a live high school lab. Face-to-face PD remains essential for practical science instruction.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consumption is itself a professional skill that must be modeled and taught.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82880"/>
            <a:ext cx="2560320" cy="25603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What I Will Carry Forward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1828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07008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development can no longer be a once-a-year event. It must be a daily, networked practice.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6400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29384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Intentionality transforms social media from noise into a precision learning tool.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79192"/>
            <a:ext cx="6400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51760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— through Wakelet — is the bridge between information abundance and instructional purpose.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6400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74136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consumption is a professional responsibility: not everything trending is evidence-based.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123944"/>
            <a:ext cx="64008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09651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EdTech professional's role is to guide others through this ecosystem — not just to use it personally.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68172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"Teachers should be the first learners in their classrooms. The EdTech professional must be the first teacher to all learners." — TEACH-NOW Program Principle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1091</Words>
  <Application>Microsoft Office PowerPoint</Application>
  <PresentationFormat>On-screen Show (16:9)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&amp; Professional Development: A Reflection</dc:title>
  <dc:subject>PptxGenJS Presentation</dc:subject>
  <dc:creator>V. Moroanu</dc:creator>
  <cp:lastModifiedBy>Victor Moronu - GV SUP</cp:lastModifiedBy>
  <cp:revision>2</cp:revision>
  <dcterms:created xsi:type="dcterms:W3CDTF">2026-04-19T02:04:26Z</dcterms:created>
  <dcterms:modified xsi:type="dcterms:W3CDTF">2026-04-19T02:16:34Z</dcterms:modified>
</cp:coreProperties>
</file>